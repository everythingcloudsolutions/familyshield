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1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yal, Mohit" userId="66f50b34-f832-4505-b47d-9c8e27b3cf6d" providerId="ADAL" clId="{B74E929F-FB04-452A-8256-9B3A6F80FB6C}"/>
    <pc:docChg chg="modSld">
      <pc:chgData name="Goyal, Mohit" userId="66f50b34-f832-4505-b47d-9c8e27b3cf6d" providerId="ADAL" clId="{B74E929F-FB04-452A-8256-9B3A6F80FB6C}" dt="2026-04-05T22:50:33.738" v="1" actId="20577"/>
      <pc:docMkLst>
        <pc:docMk/>
      </pc:docMkLst>
      <pc:sldChg chg="modSp mod">
        <pc:chgData name="Goyal, Mohit" userId="66f50b34-f832-4505-b47d-9c8e27b3cf6d" providerId="ADAL" clId="{B74E929F-FB04-452A-8256-9B3A6F80FB6C}" dt="2026-04-05T22:50:33.738" v="1" actId="20577"/>
        <pc:sldMkLst>
          <pc:docMk/>
          <pc:sldMk cId="0" sldId="256"/>
        </pc:sldMkLst>
        <pc:spChg chg="mod">
          <ac:chgData name="Goyal, Mohit" userId="66f50b34-f832-4505-b47d-9c8e27b3cf6d" providerId="ADAL" clId="{B74E929F-FB04-452A-8256-9B3A6F80FB6C}" dt="2026-04-05T22:50:33.738" v="1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984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122952">
              <a:alpha val="60000"/>
            </a:srgbClr>
          </a:solidFill>
          <a:ln w="12700">
            <a:solidFill>
              <a:srgbClr val="1229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2377440" cy="320040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PROPOSAL </a:t>
            </a:r>
            <a:r>
              <a:rPr lang="en-US" sz="900" kern="0" spc="3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FamilyShield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Digital Safety for Every Child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657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· Power-Resilient · Open Source · IaC-Driven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2011680" cy="777240"/>
          </a:xfrm>
          <a:prstGeom prst="rect">
            <a:avLst/>
          </a:prstGeom>
          <a:solidFill>
            <a:srgbClr val="1A3A6E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407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£0–2/mo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88336" y="4343400"/>
            <a:ext cx="2011680" cy="777240"/>
          </a:xfrm>
          <a:prstGeom prst="rect">
            <a:avLst/>
          </a:prstGeom>
          <a:solidFill>
            <a:srgbClr val="1A3A6E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88336" y="4407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688336" y="4754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resilient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19472" y="4343400"/>
            <a:ext cx="2011680" cy="777240"/>
          </a:xfrm>
          <a:prstGeom prst="rect">
            <a:avLst/>
          </a:prstGeom>
          <a:solidFill>
            <a:srgbClr val="1A3A6E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4407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Platforms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19472" y="4754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50608" y="4343400"/>
            <a:ext cx="2011680" cy="777240"/>
          </a:xfrm>
          <a:prstGeom prst="rect">
            <a:avLst/>
          </a:prstGeom>
          <a:solidFill>
            <a:srgbClr val="1A3A6E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50608" y="4407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50608" y="4754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Parent·Guardian·Child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381744" y="4343400"/>
            <a:ext cx="2011680" cy="777240"/>
          </a:xfrm>
          <a:prstGeom prst="rect">
            <a:avLst/>
          </a:prstGeom>
          <a:solidFill>
            <a:srgbClr val="1A3A6E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81744" y="4407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81744" y="4754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· FAMILYSHIELD SYSTEM PROPOSAL ·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Proposal Covers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4864" cy="9144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709928"/>
            <a:ext cx="502920" cy="5029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6733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9842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safety gap facing families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54864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807208"/>
            <a:ext cx="5029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0815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values driving every decision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54864" cy="9144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3904488"/>
            <a:ext cx="502920" cy="5029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8679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1788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Cloud-first, power-resilient, modular design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8006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800600"/>
            <a:ext cx="54864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5001768"/>
            <a:ext cx="50292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5001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49651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52760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Portal, Rule Engine, Traffic Engine, AI Layer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15087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26480" y="1508760"/>
            <a:ext cx="54864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63640" y="1709928"/>
            <a:ext cx="5029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6364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03720" y="16733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Inspection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19842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visibility, mitmproxy, APIs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260604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26480" y="2606040"/>
            <a:ext cx="54864" cy="9144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63640" y="2807208"/>
            <a:ext cx="502920" cy="5029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6364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0372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IaC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03720" y="30815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+ Cloudflare + OpenTofu — one command deploy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37033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126480" y="3703320"/>
            <a:ext cx="54864" cy="9144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263640" y="3904488"/>
            <a:ext cx="502920" cy="502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6364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03720" y="38679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Trade-offs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03720" y="41788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map, flexibility, spend controls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26480" y="48006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26480" y="4800600"/>
            <a:ext cx="54864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263640" y="5001768"/>
            <a:ext cx="50292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63640" y="5001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03720" y="49651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903720" y="52760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20-week build plan from zero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Safety Gap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611880" cy="1920240"/>
          </a:xfrm>
          <a:prstGeom prst="rect">
            <a:avLst/>
          </a:prstGeom>
          <a:solidFill>
            <a:srgbClr val="122952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75488" y="225856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606040"/>
            <a:ext cx="3392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freely access YouTube Shorts, Instagram Reels, TikTok, Discord, Roblox with zero oversight on content, duration, or timing.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600200"/>
            <a:ext cx="3611880" cy="1920240"/>
          </a:xfrm>
          <a:prstGeom prst="rect">
            <a:avLst/>
          </a:prstGeom>
          <a:solidFill>
            <a:srgbClr val="122952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51960" y="170992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61688" y="225856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&amp; Social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61688" y="2606040"/>
            <a:ext cx="3392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Discord and Roblox expose children to stranger contact, NSFW communities, and predatory behaviour.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611880" cy="1920240"/>
          </a:xfrm>
          <a:prstGeom prst="rect">
            <a:avLst/>
          </a:prstGeom>
          <a:solidFill>
            <a:srgbClr val="122952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38160" y="170992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47888" y="225856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7888" y="2606040"/>
            <a:ext cx="3392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have no unified view of what their children are watching, playing, or discussing — across any device or platform.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3611880" cy="1920240"/>
          </a:xfrm>
          <a:prstGeom prst="rect">
            <a:avLst/>
          </a:prstGeom>
          <a:solidFill>
            <a:srgbClr val="122952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81304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5488" y="436168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Bypass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" y="4709160"/>
            <a:ext cx="3392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change DNS settings, use VPNs, switch networks — trivially defeating home-only parental controls.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51960" y="3703320"/>
            <a:ext cx="3611880" cy="1920240"/>
          </a:xfrm>
          <a:prstGeom prst="rect">
            <a:avLst/>
          </a:prstGeom>
          <a:solidFill>
            <a:srgbClr val="122952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51960" y="381304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361688" y="436168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Failure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61688" y="4709160"/>
            <a:ext cx="3392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Pi-hole and home router controls fail completely when home power goes out — leaving children completely unprotected.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3703320"/>
            <a:ext cx="3611880" cy="1920240"/>
          </a:xfrm>
          <a:prstGeom prst="rect">
            <a:avLst/>
          </a:prstGeom>
          <a:solidFill>
            <a:srgbClr val="122952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38160" y="381304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47888" y="436168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Reality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47888" y="4709160"/>
            <a:ext cx="3392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laptops, iPhones, iPads, Smart TVs, Xbox, PS5, Switch — each with different OS, different access patterns.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— Full 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4864" cy="2148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Monitoring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0391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Sniff all inbound/outbound traffic per device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40487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content being watched on Shorts, Reels, videos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77063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packet inspection with SSL inspection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13639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in-home AND out-of-home (mobile data, friends WiFi)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50876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54864" cy="214884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81928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81928" y="20391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Family-defined rules: block, allow, time-limit per 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1928" y="240487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Age-profile defaults: 6–10 strict, 11–14 moderate, 15–17 guided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1928" y="277063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Per-child rule sets, per-device policies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1928" y="313639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appeal: child asks parent approves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54864" cy="2148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977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Coverage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437083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YouTube/Shorts: video title &amp; category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473659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Reels, TikTok: usage &amp; time controls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510235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Roblox: game name, rating, session duration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54681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Discord: server/channel names, NSFW alerts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583387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Twitch: stream category, mature flag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619963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Consoles: Xbox, PS5, Switch, Smart TVs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384048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3840480"/>
            <a:ext cx="54864" cy="2148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81928" y="3977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Dashboard &amp; AI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81928" y="437083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Per-child, per-device, per-app usage visibility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81928" y="473659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 alerts to parent phone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81928" y="510235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 digest — plain English summary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1928" y="54681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tracker with budget controls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Design Principles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decision runs through these six tests.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611880" cy="2011680"/>
          </a:xfrm>
          <a:prstGeom prst="rect">
            <a:avLst/>
          </a:prstGeom>
          <a:solidFill>
            <a:srgbClr val="1A3A6E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6118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250545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Protection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871216"/>
            <a:ext cx="33924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lives in the cloud. Home power failure = zero impact. Kid away from home = still protected.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828800"/>
            <a:ext cx="3611880" cy="2011680"/>
          </a:xfrm>
          <a:prstGeom prst="rect">
            <a:avLst/>
          </a:prstGeom>
          <a:solidFill>
            <a:srgbClr val="1A3A6E">
              <a:alpha val="70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1960" y="1828800"/>
            <a:ext cx="361188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51960" y="199339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61688" y="250545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61688" y="2871216"/>
            <a:ext cx="33924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content stored. Only risk signals and metadata. No third-party data sharing ever.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611880" cy="2011680"/>
          </a:xfrm>
          <a:prstGeom prst="rect">
            <a:avLst/>
          </a:prstGeom>
          <a:solidFill>
            <a:srgbClr val="1A3A6E">
              <a:alpha val="70000"/>
            </a:srgbClr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38160" y="1828800"/>
            <a:ext cx="3611880" cy="7315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38160" y="199339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47888" y="250545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47888" y="2871216"/>
            <a:ext cx="33924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know monitoring is on. Age-appropriate visibility builds digital literacy, not resentment.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3611880" cy="2011680"/>
          </a:xfrm>
          <a:prstGeom prst="rect">
            <a:avLst/>
          </a:prstGeom>
          <a:solidFill>
            <a:srgbClr val="1A3A6E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36118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18795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5488" y="470001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Age-Adaptive Rules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" y="5065776"/>
            <a:ext cx="33924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profiles calibrate to 6–10, 11–14, 15–17. Different strictness, one engine.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4023360"/>
            <a:ext cx="3611880" cy="2011680"/>
          </a:xfrm>
          <a:prstGeom prst="rect">
            <a:avLst/>
          </a:prstGeom>
          <a:solidFill>
            <a:srgbClr val="1A3A6E">
              <a:alpha val="70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51960" y="4023360"/>
            <a:ext cx="361188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51960" y="418795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361688" y="470001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IaC-Driven Simplicity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61688" y="5065776"/>
            <a:ext cx="33924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deploys entire infrastructure. Reproducible, versionable, and shareable with family.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4023360"/>
            <a:ext cx="3611880" cy="2011680"/>
          </a:xfrm>
          <a:prstGeom prst="rect">
            <a:avLst/>
          </a:prstGeom>
          <a:solidFill>
            <a:srgbClr val="1A3A6E">
              <a:alpha val="70000"/>
            </a:srgbClr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38160" y="4023360"/>
            <a:ext cx="3611880" cy="7315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138160" y="418795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247888" y="470001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Open Source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47888" y="5065776"/>
            <a:ext cx="33924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independently replaceable. Swap any component. Community can contribute.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Cloud-First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03520" cy="566928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· iPad · Windows · Xbox · PS5 · Switch · Smart TV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0360" y="2084832"/>
            <a:ext cx="54864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303520" cy="566928"/>
          </a:xfrm>
          <a:prstGeom prst="rect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2219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Mesh (Tailscale / WireGuard)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4505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 traffic tunnelled home or away — auto-reconnect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80360" y="2724912"/>
            <a:ext cx="54864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5303520" cy="56692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8620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Cloud Core — Always Free VM (4 OCPU / 24GB)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0906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AdGuard · Headscale · mitmproxy · InfluxDB · Grafana · Node-RED · ntfy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80360" y="3364992"/>
            <a:ext cx="54864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5303520" cy="566928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50215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730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primary (free) · Anthropic Haiku fallback · Risk scoring · Weekly digest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80360" y="4005072"/>
            <a:ext cx="54864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5303520" cy="566928"/>
          </a:xfrm>
          <a:prstGeom prst="rect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14223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3708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Cloudflare Pages · Supabase · Real-time alerts · Kids 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Architecture Decisions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1828800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00800" y="1828800"/>
            <a:ext cx="54864" cy="960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01968" y="19019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 Core?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01968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outage at home = zero impact. OCI ARM VM (4 OCPU/24GB) runs all services free forever. 10TB bandwidth.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2926080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00800" y="2926080"/>
            <a:ext cx="54864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01968" y="29992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Cloudflare Tunnel?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01968" y="3291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inbound ports on home or OCI. Services exposed via outbound-only encrypted tunnel.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4023360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4023360"/>
            <a:ext cx="54864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01968" y="409651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OCI over Fly.io?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01968" y="4389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 free: 256MB RAM. OCI free: 24GB RAM + 10TB bandwidth. No comparison possible.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5120640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00800" y="5120640"/>
            <a:ext cx="54864" cy="9601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01968" y="5193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Tailscale/WireGuard?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01968" y="5486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devices auto-VPN home when leaving WiFi. iOS MDM profile locks it — cannot be removed.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In-Home vs Out-of-Home — How It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94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3949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PROTECTION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84832"/>
            <a:ext cx="41148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1031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Interception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3317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AdGuard blocks/logs every domain. Per-device profiles.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41148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1089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Metadata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3375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ntopng: bytes, protocols, session duration per device.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096512"/>
            <a:ext cx="411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1148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Inspection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3434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mitmproxy captures video IDs, game IDs, API calls.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102352"/>
            <a:ext cx="411480" cy="4114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5102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1206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Prevention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53492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TP-Link ACL blocks DNS redirect. MDM locks DNS.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1508760"/>
            <a:ext cx="5394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0" y="1508760"/>
            <a:ext cx="539496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OUT-OF-HOME PROTECTION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2057400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56832" y="207568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 / Tailscale VPN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56832" y="230428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Auto-activates when leaving home WiFi. All traffic tunnels to OCI.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2944368"/>
            <a:ext cx="54864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56832" y="2962656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MDM Profile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56832" y="3191256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locked to AdGuard DoH. Cannot remove without parent passcode.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92240" y="3831336"/>
            <a:ext cx="54864" cy="41148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56832" y="3849624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WireGuard Agent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56832" y="4078224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Kill-switch blocks internet if VPN drops. App usage tracking.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4718304"/>
            <a:ext cx="54864" cy="4114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56832" y="47365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Data (SIM) Coverage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56832" y="49651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DoH profile active on any SIM data — no WiFi needed.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5605272"/>
            <a:ext cx="54864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56832" y="562356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Rules, Same Alerts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56832" y="585216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AdGuard rules apply. Portal shows device is 'Away from home'.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INSPECTION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Content Coverage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Three-method stack: DNS + mitmproxy SSL inspection + Platform APIs. Honest about cert pinning limits.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011680" cy="34747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783080"/>
            <a:ext cx="1691640" cy="34747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1783080"/>
            <a:ext cx="1691640" cy="34747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mitmproxy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97880" y="1783080"/>
            <a:ext cx="2240280" cy="34747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1783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1783080"/>
            <a:ext cx="2240280" cy="34747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1783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" y="2176272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Shorts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2148840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78024" y="2176272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60520" y="2148840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15384" y="2176272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ID captured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2148840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52744" y="2176272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Category · Age flag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83880" y="2148840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38744" y="2176272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on title+category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15768"/>
            <a:ext cx="201168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" y="2743200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Roblox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23160" y="2715768"/>
            <a:ext cx="1691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78024" y="2743200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60520" y="2715768"/>
            <a:ext cx="1691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15384" y="2743200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place ID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97880" y="2715768"/>
            <a:ext cx="224028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52744" y="2743200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name · Rating · Genre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83880" y="2715768"/>
            <a:ext cx="224028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38744" y="2743200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Violence/gambling flag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282696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0624" y="3310128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23160" y="3282696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478024" y="3310128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duration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60520" y="3282696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15384" y="3310128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channel names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97880" y="3282696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52744" y="3310128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NSFW channel flag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83880" y="3282696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38744" y="3310128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risk score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849624"/>
            <a:ext cx="201168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0624" y="387705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423160" y="3849624"/>
            <a:ext cx="1691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478024" y="3877056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time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60520" y="3849624"/>
            <a:ext cx="1691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215384" y="3877056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name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97880" y="3849624"/>
            <a:ext cx="224028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952744" y="3877056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flag · Game title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183880" y="3849624"/>
            <a:ext cx="224028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238744" y="3877056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risk alert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416552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20624" y="4443984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423160" y="4416552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478024" y="4443984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time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160520" y="4416552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215384" y="4443984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pinning issue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897880" y="4416552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952744" y="4443984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API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183880" y="4416552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238744" y="4443984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only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983480"/>
            <a:ext cx="201168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20624" y="5010912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423160" y="4983480"/>
            <a:ext cx="1691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478024" y="5010912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block/allow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160520" y="4983480"/>
            <a:ext cx="1691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215384" y="5010912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TLS — blocked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897880" y="4983480"/>
            <a:ext cx="224028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952744" y="5010912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API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183880" y="4983480"/>
            <a:ext cx="224028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238744" y="5010912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recommended &lt;14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65760" y="5550408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20624" y="5577840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/ PS5 / Switch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423160" y="5550408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478024" y="5577840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+ volume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160520" y="5550408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215384" y="5577840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console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897880" y="5550408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952744" y="5577840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parental APIs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8183880" y="5550408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238744" y="5577840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DNS-level only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Control Portal — Five Functional Zones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54864" cy="18288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Parent Control Centre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overview — all devices live 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50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Builder — drag-and-drop, calls AdGuard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6609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Manager — assign to child profiles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Centre — timeline of all risk events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78808" y="150876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78808" y="1508760"/>
            <a:ext cx="54864" cy="1828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61688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360 Usage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61688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Per-child dashboard — time per app/domain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61688" y="2350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timeline — hourly heatmap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61688" y="26609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category breakdown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61688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comparison — this week vs last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37576" y="150876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37576" y="1508760"/>
            <a:ext cx="54864" cy="1828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0456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Intelligence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0456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 — Groq primary, Anthropic fallback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0456" y="2350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risk scorer — cached 24h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0456" y="26609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generator — Sunday email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0456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Tracker — daily/monthly budget gauge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54864" cy="18288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703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👧  Child &amp; Guardian Views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1422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Portal — screen time, streaks, badges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453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Request — child asks, parent approves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7640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Portal — online status + emergency block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Passport — positive weekly summary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78808" y="36118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78808" y="3611880"/>
            <a:ext cx="54864" cy="1828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61688" y="3703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System &amp; Integrations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61688" y="41422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AdGuard API Bridge — block/unblock/logs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61688" y="4453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ntopng Connector — per-device traffic stats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61688" y="47640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Notification Router — ntfy + email + Telegram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61688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IaC Config Sync — settings as code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— How Decisions Are Made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92024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50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query or mitmproxy intercept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04288" y="2350008"/>
            <a:ext cx="237744" cy="54864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920240"/>
            <a:ext cx="1920240" cy="9144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1984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350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device, child, age group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98848" y="2350008"/>
            <a:ext cx="237744" cy="54864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192024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984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350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Node-RED: blocklist? time? category?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93408" y="2350008"/>
            <a:ext cx="237744" cy="54864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9440" y="1920240"/>
            <a:ext cx="19202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95160" y="1984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2350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classifies new domains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87968" y="2350008"/>
            <a:ext cx="237744" cy="54864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00" y="1920240"/>
            <a:ext cx="1920240" cy="9144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89720" y="1984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89720" y="2350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BLOCK / ALERT / LOG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Age-Profile Rule Defaults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611880"/>
            <a:ext cx="3657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611880"/>
            <a:ext cx="54864" cy="26517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" y="3703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Primary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41330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educational only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4590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Games: E-rated only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50474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time: 1hr weekday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55046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fully blocked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60520" y="3611880"/>
            <a:ext cx="3657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60520" y="3611880"/>
            <a:ext cx="54864" cy="26517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61688" y="3703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11–14 Pre-Teen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61688" y="41330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AI-filtered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61688" y="4590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Roblox: allowed + monitored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61688" y="50474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time: 2hr weekday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61688" y="55046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Discord: server names only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55280" y="3611880"/>
            <a:ext cx="3657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955280" y="3611880"/>
            <a:ext cx="54864" cy="26517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156448" y="3703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15–17 Teen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56448" y="41330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unrestricted + flagged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56448" y="4590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M-rated: parent approval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56448" y="50474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monitored + alerts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56448" y="55046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review, not hard block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Decision — Why OCI Wins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949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0" y="1618488"/>
            <a:ext cx="1325880" cy="3200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0" y="16184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(OCI)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182880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0664" y="2057400"/>
            <a:ext cx="182880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78408" y="2057400"/>
            <a:ext cx="182880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16152" y="2057400"/>
            <a:ext cx="182880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53896" y="2057400"/>
            <a:ext cx="182880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91640" y="2057400"/>
            <a:ext cx="182880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29384" y="2057400"/>
            <a:ext cx="182880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67128" y="2057400"/>
            <a:ext cx="182880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04872" y="2057400"/>
            <a:ext cx="182880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42616" y="2057400"/>
            <a:ext cx="182880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0" y="202082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3774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OCPU / 24GB ARM — Always Free forever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26974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TB/month outbound bandwidth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0175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200GB block + 20GB object storage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3375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Oracle Terraform/OpenTofu provider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508760"/>
            <a:ext cx="53949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058400" y="1618488"/>
            <a:ext cx="1325880" cy="3200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58400" y="16184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1645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2057400"/>
            <a:ext cx="182880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501384" y="2057400"/>
            <a:ext cx="182880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39128" y="2057400"/>
            <a:ext cx="182880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76872" y="2057400"/>
            <a:ext cx="182880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214616" y="2057400"/>
            <a:ext cx="182880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452360" y="2057400"/>
            <a:ext cx="182880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690104" y="2057400"/>
            <a:ext cx="182880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927848" y="2057400"/>
            <a:ext cx="182880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65592" y="2057400"/>
            <a:ext cx="182880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403336" y="205740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778240" y="202082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23774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Workers/Pages — serverless edge functions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26974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CDN bandwidth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30175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SQLite + R2 (S3-compatible)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33375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Cloudflare Terraform provider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88620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297680" y="3995928"/>
            <a:ext cx="1325880" cy="3200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297680" y="39959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" y="4023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02920" y="4434840"/>
            <a:ext cx="182880" cy="146304"/>
          </a:xfrm>
          <a:prstGeom prst="ellipse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40664" y="4434840"/>
            <a:ext cx="182880" cy="146304"/>
          </a:xfrm>
          <a:prstGeom prst="ellipse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78408" y="4434840"/>
            <a:ext cx="182880" cy="146304"/>
          </a:xfrm>
          <a:prstGeom prst="ellipse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216152" y="4434840"/>
            <a:ext cx="182880" cy="146304"/>
          </a:xfrm>
          <a:prstGeom prst="ellipse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3896" y="443484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691640" y="443484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929384" y="443484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167128" y="443484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404872" y="443484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642616" y="443484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017520" y="43982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02920" y="47548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256MB RAM free — insufficient for stack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2920" y="5074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160GB/month — VPN traffic kills this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02920" y="53949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3GB persistent — filled in days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2920" y="57150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provider only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26480" y="388620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0058400" y="3995928"/>
            <a:ext cx="132588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0058400" y="39959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63640" y="4023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263640" y="4434840"/>
            <a:ext cx="182880" cy="146304"/>
          </a:xfrm>
          <a:prstGeom prst="ellipse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501384" y="4434840"/>
            <a:ext cx="182880" cy="146304"/>
          </a:xfrm>
          <a:prstGeom prst="ellipse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739128" y="4434840"/>
            <a:ext cx="182880" cy="146304"/>
          </a:xfrm>
          <a:prstGeom prst="ellipse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976872" y="4434840"/>
            <a:ext cx="182880" cy="146304"/>
          </a:xfrm>
          <a:prstGeom prst="ellipse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214616" y="4434840"/>
            <a:ext cx="182880" cy="146304"/>
          </a:xfrm>
          <a:prstGeom prst="ellipse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452360" y="443484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690104" y="443484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927848" y="443484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165592" y="443484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403336" y="4434840"/>
            <a:ext cx="182880" cy="146304"/>
          </a:xfrm>
          <a:prstGeom prst="ellipse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778240" y="43982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263640" y="47548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e2-micro 1GB — insufficient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263640" y="5074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1GB/month — not viable at all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263640" y="53949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30GB standard disk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263640" y="57150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provider but resources too small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Technology Stack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1430000" cy="640080"/>
          </a:xfrm>
          <a:prstGeom prst="rect">
            <a:avLst/>
          </a:prstGeom>
          <a:solidFill>
            <a:srgbClr val="122952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4864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(OCI ARM VM)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58191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AdGuard Home · Headscale · mitmproxy · Grafana · InfluxDB · ntopng · Node-RED · ntfy · cloudflared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21992"/>
            <a:ext cx="11430000" cy="640080"/>
          </a:xfrm>
          <a:prstGeom prst="rect">
            <a:avLst/>
          </a:prstGeom>
          <a:solidFill>
            <a:srgbClr val="122952">
              <a:alpha val="70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221992"/>
            <a:ext cx="54864" cy="640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2951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Frontend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22951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Router · Cloudflare Pages · shadcn/ui · Recharts · SWR · NextAuth.js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35224"/>
            <a:ext cx="11430000" cy="640080"/>
          </a:xfrm>
          <a:prstGeom prst="rect">
            <a:avLst/>
          </a:prstGeom>
          <a:solidFill>
            <a:srgbClr val="122952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54864" cy="6400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0083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State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00837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+ Realtime · OCI Object Storage (Terraform state S3-compatible free)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48456"/>
            <a:ext cx="11430000" cy="640080"/>
          </a:xfrm>
          <a:prstGeom prst="rect">
            <a:avLst/>
          </a:prstGeom>
          <a:solidFill>
            <a:srgbClr val="122952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648456"/>
            <a:ext cx="54864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7216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Security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37216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 · Cloudflare Zero Trust · DNS management · DDoS protection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361688"/>
            <a:ext cx="11430000" cy="640080"/>
          </a:xfrm>
          <a:prstGeom prst="rect">
            <a:avLst/>
          </a:prstGeom>
          <a:solidFill>
            <a:srgbClr val="12295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361688"/>
            <a:ext cx="54864" cy="640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4348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LLM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44348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(primary free) · Anthropic Claude Haiku (fallback) · Spend tracker per call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5074920"/>
            <a:ext cx="11430000" cy="640080"/>
          </a:xfrm>
          <a:prstGeom prst="rect">
            <a:avLst/>
          </a:prstGeom>
          <a:solidFill>
            <a:srgbClr val="122952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5074920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51480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&amp; DevOps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0" y="51480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OpenTofu (Terraform-compatible) · GitHub Actions CI/CD · Ansible for Pi · Docker Compose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5788152"/>
            <a:ext cx="11430000" cy="640080"/>
          </a:xfrm>
          <a:prstGeom prst="rect">
            <a:avLst/>
          </a:prstGeom>
          <a:solidFill>
            <a:srgbClr val="122952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5788152"/>
            <a:ext cx="54864" cy="640080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58613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Pi (Optional Enhancement)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08960" y="586130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ntopng metrics · Local AdGuard replica synced from cloud · Additional traffic visibility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OpenTofu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303520" cy="448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familyshield-iac/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2037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main.tf            # Root orchestration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variables.tf       # All inputs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7706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backend.tf         # OCI Object Storage state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054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modules/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337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oci-compute/   # VM + networking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6210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oci-storage/   # Buckets + state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9044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cloudflare-dns/ # DNS+Tunnel+ZT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supabase/       # DB + migrations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4714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docker-compose/ # Service stack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7548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ansible/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50383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pi-setup.yml   # Optional Pi config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5321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.github/workflows/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56052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deploy.yml     # CI/CD pipeline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Steps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1828800"/>
            <a:ext cx="36576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184708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OCI Account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206654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oracle.com/cloud/free — credit card needed, not charged. Choose EU region.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65392" y="2212848"/>
            <a:ext cx="36576" cy="347472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2578608"/>
            <a:ext cx="365760" cy="36576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259689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IaC Repo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281635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terraform.tfvars with OCI + Cloudflare credentials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65392" y="2962656"/>
            <a:ext cx="36576" cy="347472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00800" y="3328416"/>
            <a:ext cx="365760" cy="3657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334670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State Bucket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03720" y="35661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apply in oci-storage — creates free OCI object storage bucket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65392" y="3712464"/>
            <a:ext cx="36576" cy="347472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00800" y="4078224"/>
            <a:ext cx="36576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03720" y="40965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apply (root)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03720" y="431596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VM, Docker, all services, Cloudflare DNS+Tunnel, Supabase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65392" y="4462272"/>
            <a:ext cx="36576" cy="347472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00800" y="4828032"/>
            <a:ext cx="365760" cy="3657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0080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03720" y="484632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Devices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03720" y="506577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Tailscale + push iOS MDM profile via AirDrop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565392" y="5212080"/>
            <a:ext cx="36576" cy="347472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400800" y="5577840"/>
            <a:ext cx="365760" cy="3657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0080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03720" y="559612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Protected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03720" y="581558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 ~1 hour from zero accounts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 &amp; Architecture Trade-offs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6858000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536192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1536192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11096"/>
            <a:ext cx="6858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9476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ARM VM — all backend services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9476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7880" y="194767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Always-free forever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86584"/>
            <a:ext cx="6858000" cy="457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4231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— portal hosting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423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bandwidth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862072"/>
            <a:ext cx="6858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898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97880" y="289864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500MB free tier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6858000" cy="457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37413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/ Headscale — VPN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3741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97880" y="33741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= unlimited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813048"/>
            <a:ext cx="6858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84962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— primary LLM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8496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97880" y="384962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tokens/day free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288536"/>
            <a:ext cx="6858000" cy="457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3251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 + DNS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3251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97880" y="432511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764024"/>
            <a:ext cx="6858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48006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Ntfy + Resend — alerts + email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800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97880" y="48006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free tiers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5239512"/>
            <a:ext cx="6858000" cy="457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52760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Haiku — fallback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52760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~£0.01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97880" y="52760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Groq quota hit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5715000"/>
            <a:ext cx="6858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575157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Pi electricity (optional)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57515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~£1–2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97880" y="575157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only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6190488"/>
            <a:ext cx="6858000" cy="47548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" y="623620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Cost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46320" y="62362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~£1–2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498080" y="1463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Trade-offs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498080" y="1874520"/>
            <a:ext cx="4480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498080" y="1874520"/>
            <a:ext cx="54864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699248" y="1965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vs Self-Hosted Only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699248" y="225856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Power resilience + out-of-home VPN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699248" y="25054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OCI account setup required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498080" y="3063240"/>
            <a:ext cx="4480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498080" y="3063240"/>
            <a:ext cx="54864" cy="10789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699248" y="31546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Inspection Trade-off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699248" y="344728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Video titles, game IDs, full API visibility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699248" y="369417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CA cert install on each kid device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498080" y="4251960"/>
            <a:ext cx="4480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498080" y="4251960"/>
            <a:ext cx="54864" cy="107899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699248" y="43434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vs Anthropic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699248" y="463600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Groq: free 500k tokens/day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699248" y="488289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Anthropic: ~£0.01/mo as fallback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498080" y="5440680"/>
            <a:ext cx="4480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498080" y="5440680"/>
            <a:ext cx="54864" cy="107899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699248" y="5532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vs Pi-Only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699248" y="582472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Always-on, out-of-home, power-safe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699248" y="607161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Minor latency via tunnel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Network Resilience — Before vs After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52704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Pi-at-Home Design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0" y="152704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FamilyShield Cloud-First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83664"/>
            <a:ext cx="11430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power failure at 10pm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920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All DNS stops — Pi offline, no protection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0" y="1920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OCI cloud continues — fully protected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11430000" cy="68580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64261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internet outage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64261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Pi-hole unreachable — rules bypassed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0" y="264261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Cloud DNS via DoH on mobile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11430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36499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hardware failure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336499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Total system failure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336499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Pi is optional — cloud unaffected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50792"/>
            <a:ext cx="11430000" cy="68580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0873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 away at friend's house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408736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Only if VPN manually configured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40873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VPN auto-connects via Tailscale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773168"/>
            <a:ext cx="11430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80974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 on mobile data (SIM)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480974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Pi-hole not reachable on mobile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480974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iOS DoH profile — AdGuard always active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5495544"/>
            <a:ext cx="11430000" cy="68580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55321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 manually changes DNS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31920" y="55321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Bypasses Pi-hole unless firewall set 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80960" y="55321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MDM profile locks DNS — cannot change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DIAGRAM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Wire Diagram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1920240" cy="685800"/>
          </a:xfrm>
          <a:prstGeom prst="rect">
            <a:avLst/>
          </a:prstGeom>
          <a:solidFill>
            <a:srgbClr val="1A3A6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264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(kid)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33472" y="1389888"/>
            <a:ext cx="1920240" cy="685800"/>
          </a:xfrm>
          <a:prstGeom prst="rect">
            <a:avLst/>
          </a:prstGeom>
          <a:solidFill>
            <a:srgbClr val="1A3A6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33472" y="14264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(kid)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01184" y="1389888"/>
            <a:ext cx="1920240" cy="685800"/>
          </a:xfrm>
          <a:prstGeom prst="rect">
            <a:avLst/>
          </a:prstGeom>
          <a:solidFill>
            <a:srgbClr val="1A3A6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01184" y="14264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(kid)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68896" y="1389888"/>
            <a:ext cx="1920240" cy="685800"/>
          </a:xfrm>
          <a:prstGeom prst="rect">
            <a:avLst/>
          </a:prstGeom>
          <a:solidFill>
            <a:srgbClr val="1A3A6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68896" y="14264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Xbox/PS5/Switch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36608" y="1389888"/>
            <a:ext cx="1920240" cy="685800"/>
          </a:xfrm>
          <a:prstGeom prst="rect">
            <a:avLst/>
          </a:prstGeom>
          <a:solidFill>
            <a:srgbClr val="1A3A6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36608" y="14264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21284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 VPN (away)   |   AdGuard DoH (always 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2121408"/>
            <a:ext cx="3931920" cy="54864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542032"/>
            <a:ext cx="11521440" cy="1691640"/>
          </a:xfrm>
          <a:prstGeom prst="rect">
            <a:avLst/>
          </a:prstGeom>
          <a:solidFill>
            <a:srgbClr val="122952"/>
          </a:solidFill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2596896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ARM VM — Always Free — 4 OCPU / 24GB RAM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89504"/>
            <a:ext cx="2560320" cy="1188720"/>
          </a:xfrm>
          <a:prstGeom prst="rect">
            <a:avLst/>
          </a:prstGeom>
          <a:solidFill>
            <a:srgbClr val="F0A500">
              <a:alpha val="25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2944368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Headscale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(VPN mesh)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2889504"/>
            <a:ext cx="2560320" cy="1188720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63824" y="2944368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AdGuard Home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+ Rules + Logs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2889504"/>
            <a:ext cx="2560320" cy="118872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07024" y="2944368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mitmproxy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Inspection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95360" y="2889504"/>
            <a:ext cx="2743200" cy="1188720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50224" y="2944368"/>
            <a:ext cx="263347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ntopng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4261104"/>
            <a:ext cx="54864" cy="320040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4645152"/>
            <a:ext cx="2743200" cy="1024128"/>
          </a:xfrm>
          <a:prstGeom prst="rect">
            <a:avLst/>
          </a:prstGeom>
          <a:solidFill>
            <a:srgbClr val="122952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8912" y="4700016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Realtime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4645152"/>
            <a:ext cx="2743200" cy="1024128"/>
          </a:xfrm>
          <a:prstGeom prst="rect">
            <a:avLst/>
          </a:prstGeom>
          <a:solidFill>
            <a:srgbClr val="12295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64992" y="4700016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Portal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4645152"/>
            <a:ext cx="2743200" cy="1024128"/>
          </a:xfrm>
          <a:prstGeom prst="rect">
            <a:avLst/>
          </a:prstGeom>
          <a:solidFill>
            <a:srgbClr val="122952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91072" y="4700016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Anthropic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44000" y="4645152"/>
            <a:ext cx="2651760" cy="1024128"/>
          </a:xfrm>
          <a:prstGeom prst="rect">
            <a:avLst/>
          </a:prstGeom>
          <a:solidFill>
            <a:srgbClr val="122952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217152" y="4700016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Phone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via ntfy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5760720"/>
            <a:ext cx="11521440" cy="457200"/>
          </a:xfrm>
          <a:prstGeom prst="rect">
            <a:avLst/>
          </a:prstGeom>
          <a:solidFill>
            <a:srgbClr val="122952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580644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Layer: Tunnel (secure OCI exposure) · DNS · Zero Trust Auth · DDoS protection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— Multi-LLM Router + Spend Tracker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920240" cy="914400"/>
          </a:xfrm>
          <a:prstGeom prst="rect">
            <a:avLst/>
          </a:prstGeom>
          <a:solidFill>
            <a:srgbClr val="00A896">
              <a:alpha val="20000"/>
            </a:srgbClr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04288" y="1920240"/>
            <a:ext cx="237744" cy="54864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1508760"/>
            <a:ext cx="1920240" cy="914400"/>
          </a:xfrm>
          <a:prstGeom prst="rect">
            <a:avLst/>
          </a:prstGeom>
          <a:solidFill>
            <a:srgbClr val="0B1E3D">
              <a:alpha val="20000"/>
            </a:srgbClr>
          </a:solidFill>
          <a:ln w="254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58191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98848" y="1920240"/>
            <a:ext cx="237744" cy="54864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1920240" cy="914400"/>
          </a:xfrm>
          <a:prstGeom prst="rect">
            <a:avLst/>
          </a:prstGeom>
          <a:solidFill>
            <a:srgbClr val="7C3AED">
              <a:alpha val="20000"/>
            </a:srgbClr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58191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Free)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93408" y="1920240"/>
            <a:ext cx="237744" cy="54864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0" y="1508760"/>
            <a:ext cx="1920240" cy="914400"/>
          </a:xfrm>
          <a:prstGeom prst="rect">
            <a:avLst/>
          </a:prstGeom>
          <a:solidFill>
            <a:srgbClr val="F0A500">
              <a:alpha val="20000"/>
            </a:srgbClr>
          </a:solidFill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95160" y="158191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(Fallback)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87968" y="1920240"/>
            <a:ext cx="237744" cy="54864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0" y="1508760"/>
            <a:ext cx="1920240" cy="914400"/>
          </a:xfrm>
          <a:prstGeom prst="rect">
            <a:avLst/>
          </a:prstGeom>
          <a:solidFill>
            <a:srgbClr val="2DC653">
              <a:alpha val="20000"/>
            </a:srgbClr>
          </a:solidFill>
          <a:ln w="254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89720" y="158191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24h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7132320" cy="34747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633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2633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2633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2633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Tokens/mo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2633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971800"/>
            <a:ext cx="7132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299923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risk scoring (cached 24h)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0" y="29992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new/day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0" y="29992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29992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~90k/mo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29992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474720"/>
            <a:ext cx="7132320" cy="475488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5021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per child (x3 children)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26080" y="35021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3x/week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97680" y="35021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→ Anthropic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0" y="35021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~15k/mo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35021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~£0.01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977640"/>
            <a:ext cx="7132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400507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pattern analysis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926080" y="40050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alert trigger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97680" y="40050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0" y="40050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~10k/mo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40050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480560"/>
            <a:ext cx="7132320" cy="475488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45079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 report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926080" y="45079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1x/month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297680" y="45079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Haiku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0" y="45079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~20k/mo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29400" y="45079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~£0.005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5001768"/>
            <a:ext cx="7132320" cy="4572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2920" y="50474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monthly AI cost (3 children)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629400" y="50474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~£0.02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77240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Spend Tracker Widget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772400" y="297180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772400" y="2971800"/>
            <a:ext cx="54864" cy="10972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909560" y="3063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spend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909560" y="328269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£0.00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7909560" y="363016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£0.50 budget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909560" y="3849624"/>
            <a:ext cx="1600200" cy="91440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09560" y="3849624"/>
            <a:ext cx="32004" cy="914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784080" y="297180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784080" y="2971800"/>
            <a:ext cx="54864" cy="10972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921240" y="3063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921240" y="328269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£0.02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9921240" y="363016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£2.00 budget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921240" y="3849624"/>
            <a:ext cx="1600200" cy="91440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921240" y="3849624"/>
            <a:ext cx="16002" cy="914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772400" y="425196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772400" y="425196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909560" y="43434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calls today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909560" y="456285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7909560" y="49103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free/day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909560" y="5129784"/>
            <a:ext cx="1600200" cy="91440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909560" y="5129784"/>
            <a:ext cx="14401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9784080" y="425196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9784080" y="4251960"/>
            <a:ext cx="54864" cy="10972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9921240" y="43434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today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921240" y="456285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9921240" y="49103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£2/mo budget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921240" y="5129784"/>
            <a:ext cx="1600200" cy="91440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20-Week Phased Build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14884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OCI VM + AdGuard + Headscale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kids' devices via Tailscale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iOS MDM profile — DNS locked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out-of-home DNS protection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4773168"/>
            <a:ext cx="2148840" cy="109728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504748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protected everywhere — before writing custom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06040" y="1508760"/>
            <a:ext cx="2148840" cy="4572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06040" y="153619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1993392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E3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97480" y="20848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&amp; Rules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24231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portal on Cloudflare Pages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9748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AdGuard API bridge routes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97480" y="3337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rule builder UI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9748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ntfy push alerts to parent phone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06040" y="4773168"/>
            <a:ext cx="2148840" cy="1097280"/>
          </a:xfrm>
          <a:prstGeom prst="rect">
            <a:avLst/>
          </a:prstGeom>
          <a:solidFill>
            <a:srgbClr val="0B1E3D">
              <a:alpha val="15000"/>
            </a:srgbClr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97480" y="48280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97480" y="504748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have single dashboard with block/unblock and real-time alerts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1508760"/>
            <a:ext cx="2148840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153619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6–9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1993392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0" y="20848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24231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mitmproxy on OCI + CA cert install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YouTube/Roblox/Twitch API enrichment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0" y="3337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 (Groq → Anthropic fallback)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tracker in dashboard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37760" y="4773168"/>
            <a:ext cx="2148840" cy="1097280"/>
          </a:xfrm>
          <a:prstGeom prst="rect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0" y="48280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504748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understands content — video titles, game names, risk scores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69480" y="1508760"/>
            <a:ext cx="214884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69480" y="153619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9480" y="1993392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60920" y="20848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Enhancement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60920" y="24231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ntopng on Pi + InfluxDB metrics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6092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 in portal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60920" y="3337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AdGuard replica synced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6092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mitmproxy for console traffic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69480" y="4773168"/>
            <a:ext cx="2148840" cy="1097280"/>
          </a:xfrm>
          <a:prstGeom prst="rect">
            <a:avLst/>
          </a:prstGeom>
          <a:solidFill>
            <a:srgbClr val="2DC653">
              <a:alpha val="15000"/>
            </a:srgbClr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360920" y="48280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60920" y="504748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per-device charts on home network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601200" y="1508760"/>
            <a:ext cx="2148840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601200" y="153619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15–20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601200" y="1993392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692640" y="20848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OSS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692640" y="24231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portal + request/appeal flow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69264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 digest email (Resend)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692640" y="3337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one-command install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69264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public repo + full docs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601200" y="4773168"/>
            <a:ext cx="2148840" cy="1097280"/>
          </a:xfrm>
          <a:prstGeom prst="rect">
            <a:avLst/>
          </a:prstGeom>
          <a:solidFill>
            <a:srgbClr val="E84855">
              <a:alpha val="15000"/>
            </a:srgbClr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692640" y="48280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692640" y="504748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shareable, open source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Flexibility — Swap Any Component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3949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550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AdGuard Home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0391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Pi-hole, Blocky, NextDNS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expose REST API. Swap by changing one Terraform module.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5394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6550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0391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Anthropic, OpenAI, local Ollama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 abstracts provider. New provider = 20 lines of code.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0876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1508760"/>
            <a:ext cx="539496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16550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0391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PlanetScale, Neon, self-hosted Postgres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23317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PostgreSQL. Change connection string. Migrations are portable.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320040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3200400"/>
            <a:ext cx="53949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33467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37307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Vercel, Netlify, self-hosted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0233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is the framework. Deploy anywhere that supports it.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20040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E3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200400"/>
            <a:ext cx="5394960" cy="54864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3467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Compute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37307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Any VPS, home Pi, GCP e2-micro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0233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runs anywhere. Cloud resilience is optional, not required.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20040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26480" y="3200400"/>
            <a:ext cx="53949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63640" y="33467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/ Headscale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37307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Raw WireGuard, NetBird, ZeroTier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40233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 is the protocol. Orchestration layer is fully swappable.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Model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611880" cy="2011680"/>
          </a:xfrm>
          <a:prstGeom prst="rect">
            <a:avLst/>
          </a:prstGeom>
          <a:solidFill>
            <a:srgbClr val="122952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" y="235000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Content Stored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69748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mitmproxy extracts IDs only. Video titles come from API, not traffic. Zero frame capture ever.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1691640"/>
            <a:ext cx="3611880" cy="2011680"/>
          </a:xfrm>
          <a:prstGeom prst="rect">
            <a:avLst/>
          </a:prstGeom>
          <a:solidFill>
            <a:srgbClr val="122952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51960" y="180136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61688" y="235000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Zero Trust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61688" y="269748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service (Grafana, AdGuard UI) behind Cloudflare Access. Email allowlist auth.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611880" cy="2011680"/>
          </a:xfrm>
          <a:prstGeom prst="rect">
            <a:avLst/>
          </a:prstGeom>
          <a:solidFill>
            <a:srgbClr val="12295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38160" y="180136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47888" y="235000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IaC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7888" y="269748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credentials. All API keys via Terraform variables → Cloudflare secrets.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3611880" cy="2011680"/>
          </a:xfrm>
          <a:prstGeom prst="rect">
            <a:avLst/>
          </a:prstGeom>
          <a:solidFill>
            <a:srgbClr val="122952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99592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" y="454456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Inbound Ports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489204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 is outbound-only. OCI security list blocks all inbound except SSH.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3886200"/>
            <a:ext cx="3611880" cy="2011680"/>
          </a:xfrm>
          <a:prstGeom prst="rect">
            <a:avLst/>
          </a:prstGeom>
          <a:solidFill>
            <a:srgbClr val="122952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51960" y="399592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61688" y="454456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Know They're Monitored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61688" y="489204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is a design principle. Kids' portal shows their own data. Appeal system.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0" y="3886200"/>
            <a:ext cx="3611880" cy="2011680"/>
          </a:xfrm>
          <a:prstGeom prst="rect">
            <a:avLst/>
          </a:prstGeom>
          <a:solidFill>
            <a:srgbClr val="12295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38160" y="399592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47888" y="4544568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47888" y="489204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change, API call, alert in Supabase with timestamp and actor.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Coverage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6400800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1508760"/>
            <a:ext cx="1737360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03720" y="15270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1508760"/>
            <a:ext cx="1737360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32520" y="15270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6–9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424160" y="1508760"/>
            <a:ext cx="1645920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69880" y="15270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10–20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17043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92024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Filtering &amp; Domain Blocking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0" y="19202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19202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0" y="1920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212848"/>
            <a:ext cx="11704320" cy="283464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22199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Usage Statistics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22219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0" y="22219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0" y="2221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514600"/>
            <a:ext cx="117043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252374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Controls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25237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0" y="25237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0" y="25237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2816352"/>
            <a:ext cx="11704320" cy="283464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282549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 Alerts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28254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86800" y="28254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0" y="28254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3118104"/>
            <a:ext cx="117043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312724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Out-of-Home VPN Protection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58000" y="31272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86800" y="31272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424160" y="31272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419856"/>
            <a:ext cx="11704320" cy="283464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342900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Failure Safe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858000" y="3429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686800" y="3429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424160" y="3429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3721608"/>
            <a:ext cx="117043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37307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Title &amp; Category Tracking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58000" y="3730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686800" y="3730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424160" y="37307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65760" y="4023360"/>
            <a:ext cx="11704320" cy="283464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2920" y="403250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Roblox Game Name Monitoring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58000" y="40325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686800" y="40325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424160" y="40325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65760" y="4325112"/>
            <a:ext cx="117043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2920" y="433425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Server &amp; NSFW Alerts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858000" y="43342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686800" y="43342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0424160" y="43342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365760" y="4626864"/>
            <a:ext cx="11704320" cy="283464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2920" y="463600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 Mature Content Flag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858000" y="46360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686800" y="46360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424160" y="46360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65760" y="4928616"/>
            <a:ext cx="117043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02920" y="493776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Content Inspection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858000" y="49377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686800" y="49377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10424160" y="4937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365760" y="5230368"/>
            <a:ext cx="11704320" cy="283464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02920" y="523951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Scoring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858000" y="52395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686800" y="52395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10424160" y="52395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365760" y="5532120"/>
            <a:ext cx="117043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02920" y="554126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 Digest Email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858000" y="5541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8686800" y="5541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10424160" y="55412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365760" y="5833872"/>
            <a:ext cx="11704320" cy="283464"/>
          </a:xfrm>
          <a:prstGeom prst="rect">
            <a:avLst/>
          </a:prstGeom>
          <a:solidFill>
            <a:srgbClr val="F4F7FA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02920" y="584301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Portal View &amp; Appeals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6858000" y="58430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8686800" y="58430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10424160" y="58430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365760" y="6135624"/>
            <a:ext cx="117043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02920" y="614476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One-Command Deploy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6858000" y="6144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8686800" y="6144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10424160" y="6144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Strategy &amp; Community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4864" cy="2103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1848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1671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3288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repo: MIT licensed. Full setup docs, contribution guide, issue templates.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5087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06240" y="1508760"/>
            <a:ext cx="54864" cy="2103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0" y="161848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89120" y="21671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253288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Pi/local services in one file. Single command: docker compose up -d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5087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508760"/>
            <a:ext cx="54864" cy="2103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0" y="161848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229600" y="21671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OpenTofu IaC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253288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cloud infra as code. Fork → fill tfvars → tofu apply → running in 1 hour.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611880"/>
            <a:ext cx="54864" cy="21031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72160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" y="42702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Marketplace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63600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Community-shared rule packs: Exam Mode, Gaming Weekend, Summer Holiday.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0" y="361188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06240" y="3611880"/>
            <a:ext cx="54864" cy="2103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0" y="372160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389120" y="42702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Architecture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89120" y="463600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platform connectors without touching core. PR a new adapter.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46720" y="361188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46720" y="3611880"/>
            <a:ext cx="54864" cy="2103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046720" y="372160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229600" y="42702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Multi-Family Support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0" y="463600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row-level security isolates families. One codebase, infinite instances.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Setup 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4864" cy="2286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6184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/ iPad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391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Tailscale from App Store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4231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Configurator 2 → push MDM profile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8072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locks DNS to AdGuard DoH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1912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prevents VPN removal without passcode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" y="3584448"/>
            <a:ext cx="5175504" cy="146304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593592"/>
            <a:ext cx="4937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Away: Full VPN + DNS filtering on all networks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54864" cy="22860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27648" y="16184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Laptop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27648" y="20391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WireGuard client (free)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27648" y="24231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Policy: lock DNS to AdGuard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7648" y="28072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lightweight agent — app usage tracking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7648" y="31912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Kill-switch: blocks internet if VPN drops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36208" y="3584448"/>
            <a:ext cx="5175504" cy="146304"/>
          </a:xfrm>
          <a:prstGeom prst="rect">
            <a:avLst/>
          </a:prstGeom>
          <a:solidFill>
            <a:srgbClr val="0B1E3D">
              <a:alpha val="15000"/>
            </a:srgbClr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27648" y="3593592"/>
            <a:ext cx="4937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Away: Full WireGuard VPN + DNS + app monitoring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97764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54864" cy="2286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40873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/ PS5 / Switch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6928" y="45079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install VPN client — OS locked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48920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only: DNS forced via router DHCP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52760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console VLAN (optional)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566013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TP-Link ACL blocks DNS bypass attempts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" y="6053328"/>
            <a:ext cx="5175504" cy="146304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6062472"/>
            <a:ext cx="4937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Away: Home-only DNS coverage. No out-of-home.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397764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26480" y="3977640"/>
            <a:ext cx="54864" cy="2286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27648" y="40873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 / Fire Stick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27648" y="45079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install VPN client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27648" y="48920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DNS-level coverage via home network only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27648" y="52760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Stick: sideload parental app optional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27648" y="566013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adult/streaming platforms via DNS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36208" y="6053328"/>
            <a:ext cx="5175504" cy="146304"/>
          </a:xfrm>
          <a:prstGeom prst="rect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27648" y="6062472"/>
            <a:ext cx="4937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Away: Home-only DNS coverage only.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 — Starting This Week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94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4864" cy="14813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2064" y="1645920"/>
            <a:ext cx="10058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64208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OCI Account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01168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oracle.com/cloud/free. Choose UK South or EU region for ARM availability. Takes 10 minutes.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5394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54864" cy="14813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72784" y="1645920"/>
            <a:ext cx="10058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72784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24928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IaC Repo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7648" y="201168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familyshield GitHub repo. Fill terraform.tfvars.example with your credentials.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1508760"/>
            <a:ext cx="5394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1508760"/>
            <a:ext cx="54864" cy="148132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2064" y="1645920"/>
            <a:ext cx="1005840" cy="2743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64208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Cloud Core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201168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tofu apply — provisions OCI VM, installs AdGuard + Headscale, configures Cloudflare Tunnel.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5394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3154680"/>
            <a:ext cx="54864" cy="148132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72784" y="3291840"/>
            <a:ext cx="1005840" cy="2743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72784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24928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First Device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27648" y="365760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Tailscale on one kid's iPhone. Push iOS MDM profile. Verify DNS via AdGuard.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154680"/>
            <a:ext cx="5394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154680"/>
            <a:ext cx="54864" cy="14813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12064" y="3291840"/>
            <a:ext cx="1005840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2064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64208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Portal Skeleton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" y="365760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Next.js portal, wire AdGuard API routes, deploy to Cloudflare Pages.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3154680"/>
            <a:ext cx="5394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26480" y="3154680"/>
            <a:ext cx="54864" cy="14813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72784" y="3291840"/>
            <a:ext cx="1005840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72784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4+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24928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Content Layer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27648" y="365760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mitmproxy to OCI. Install CA cert on kid devices. Connect YouTube Data API.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Decisions — Your Input Required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02920" cy="2194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645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Inspection depth?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CA cert on all kid devices now (maximum visibility)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4128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DNS-only, add SSL inspection in Phase 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24128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DNS-only permanently — balance visibility with simplicity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502920" cy="21945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84848" y="1645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TikTok approach?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84848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both entirely via DNS for under-14s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84848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browser-only (blocks native apps at DNS)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84848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with time controls and DNS logging only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E3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502920" cy="219456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709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4023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Kids' portal awareness level?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4128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kids full portal — full transparency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24128" y="4983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kids simplified summary only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24128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background monitoring — no kids 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388620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0" y="3886200"/>
            <a:ext cx="502920" cy="21945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0" y="4709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84848" y="4023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Pi role going forward?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84848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Pi as optional enhancement (ntopng + Grafana)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84848" y="4983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Pi — run everything on OCI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84848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Pi as primary, use OCI only for out-of-home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Full Tools &amp; Services Reference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486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6002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&amp; Filtering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94767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AdGuard Home  ·  Unbound  ·  OISD blocklist  ·  Steven Black lists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50876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1508760"/>
            <a:ext cx="5486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07408" y="16002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&amp; Network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07408" y="194767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  ·  Tailscale  ·  Headscale  ·  Cloudflare Tunnel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150876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46720" y="1508760"/>
            <a:ext cx="5486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47888" y="16002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47888" y="194767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mitmproxy  ·  Zeek (optional)  ·  ntopng Community  ·  Node-RED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5486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68503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OSS  ·  Supabase  ·  OCI Object Storage  ·  Redis event queue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324612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06240" y="3246120"/>
            <a:ext cx="5486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07408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07408" y="368503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 ·  Anthropic Haiku  ·  YouTube Data API v3  ·  Roblox Open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0" y="324612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46720" y="3246120"/>
            <a:ext cx="5486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47888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47888" y="368503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 ·  Cloudflare Pages  ·  shadcn/ui  ·  Recharts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98348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4983480"/>
            <a:ext cx="5486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50749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542239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 ·  Cloudflare Zero Trust  ·  Apple MDM Configurator  ·  Cloudflare Access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06240" y="498348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206240" y="4983480"/>
            <a:ext cx="5486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07408" y="50749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&amp; DevOps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07408" y="542239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OpenTofu  ·  Ansible  ·  Docker Compose  ·  GitHub Actions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46720" y="498348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046720" y="4983480"/>
            <a:ext cx="5486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47888" y="50749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47888" y="542239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Ntfy.sh  ·  Resend email  ·  Apprise  ·  Telegram Bot optional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12161520" cy="2468880"/>
          </a:xfrm>
          <a:prstGeom prst="rect">
            <a:avLst/>
          </a:prstGeom>
          <a:solidFill>
            <a:srgbClr val="005548">
              <a:alpha val="40000"/>
            </a:srgbClr>
          </a:solidFill>
          <a:ln w="12700">
            <a:solidFill>
              <a:srgbClr val="005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FamilyShield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Digital Safety for Every Child, Everywhere.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566160"/>
            <a:ext cx="576072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0" y="38221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Cloud-first · Always-on · Power-resilient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4206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£1–2/month total cost · Open Source · IaC-driven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459028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content inspection · 6 platforms · 3 device types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497433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One-command deploy · One portal · Three role views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FAMILYSHIELD · SYSTEM PROPOSAL · OPEN SOURCE · 2025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continues on request.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3978</Words>
  <Application>Microsoft Office PowerPoint</Application>
  <PresentationFormat>Widescreen</PresentationFormat>
  <Paragraphs>814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FamilyShield — Complete System Proposal</dc:title>
  <dc:subject>PptxGenJS Presentation</dc:subject>
  <dc:creator>PptxGenJS</dc:creator>
  <cp:lastModifiedBy>Goyal, Mohit</cp:lastModifiedBy>
  <cp:revision>1</cp:revision>
  <dcterms:created xsi:type="dcterms:W3CDTF">2026-04-05T21:42:16Z</dcterms:created>
  <dcterms:modified xsi:type="dcterms:W3CDTF">2026-04-05T22:50:36Z</dcterms:modified>
</cp:coreProperties>
</file>